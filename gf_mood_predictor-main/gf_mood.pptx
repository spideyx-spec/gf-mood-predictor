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65" r:id="rId4"/>
    <p:sldId id="258" r:id="rId5"/>
    <p:sldId id="259" r:id="rId6"/>
    <p:sldId id="260" r:id="rId7"/>
    <p:sldId id="267" r:id="rId8"/>
    <p:sldId id="268" r:id="rId9"/>
    <p:sldId id="269" r:id="rId10"/>
    <p:sldId id="262" r:id="rId11"/>
    <p:sldId id="263" r:id="rId12"/>
    <p:sldId id="270" r:id="rId13"/>
    <p:sldId id="271" r:id="rId14"/>
    <p:sldId id="266" r:id="rId15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27000">
              <a:schemeClr val="accent6">
                <a:lumMod val="20000"/>
                <a:lumOff val="8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9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 dirty="0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 dirty="0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lnSpc>
                <a:spcPct val="110000"/>
              </a:lnSpc>
            </a:pPr>
            <a:r>
              <a:rPr lang="en-IN" altLang="en-GB"/>
              <a:t> Mood Prediction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altLang="en-US"/>
              <a:t>Predicting Her Mood: </a:t>
            </a:r>
            <a:r>
              <a:rPr lang="en-US" altLang="en-GB"/>
              <a:t>A Machine Learning Approach to Understanding Emotions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750" y="1556703"/>
            <a:ext cx="8229600" cy="1143000"/>
          </a:xfrm>
        </p:spPr>
        <p:txBody>
          <a:bodyPr/>
          <a:lstStyle/>
          <a:p>
            <a:r>
              <a:rPr lang="en-IN" altLang="en-GB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0655"/>
            <a:ext cx="8229600" cy="3425825"/>
          </a:xfrm>
        </p:spPr>
        <p:txBody>
          <a:bodyPr/>
          <a:lstStyle/>
          <a:p>
            <a:pPr marL="0" indent="0" algn="ctr">
              <a:buNone/>
            </a:pPr>
            <a:r>
              <a:rPr lang="en-IN" altLang="en-GB" sz="2400"/>
              <a:t>To develop a Regression based ML model that predicts mood scores based on behavioural and contextual factors.</a:t>
            </a:r>
          </a:p>
          <a:p>
            <a:pPr algn="ctr"/>
            <a:endParaRPr lang="en-IN" altLang="en-GB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 sz="2000"/>
              <a:t>Built an end-to-end </a:t>
            </a:r>
            <a:r>
              <a:rPr lang="en-IN" altLang="en-US" sz="2000"/>
              <a:t>process </a:t>
            </a:r>
            <a:r>
              <a:rPr lang="en-US" altLang="en-GB" sz="2000"/>
              <a:t>from synthetic dataset generation to model deployment</a:t>
            </a:r>
            <a:r>
              <a:rPr lang="en-GB" altLang="en-US" sz="2000"/>
              <a:t>.</a:t>
            </a:r>
            <a:endParaRPr lang="en-US" altLang="en-GB" sz="2000"/>
          </a:p>
          <a:p>
            <a:endParaRPr lang="en-US" altLang="en-GB" sz="2000"/>
          </a:p>
          <a:p>
            <a:r>
              <a:rPr lang="en-US" altLang="en-GB" sz="2000"/>
              <a:t>Focused on real-life inspired features: sleep, affection, arguments, self-care, cycle phase, etc.</a:t>
            </a:r>
          </a:p>
          <a:p>
            <a:endParaRPr lang="en-US" altLang="en-GB" sz="2000"/>
          </a:p>
          <a:p>
            <a:r>
              <a:rPr lang="en-US" altLang="en-GB" sz="2000"/>
              <a:t>Deployed using a Streamlit app for user-friendly interaction</a:t>
            </a:r>
            <a:r>
              <a:rPr lang="en-IN" altLang="en-US" sz="200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altLang="en-GB" sz="2000"/>
              <a:t>To simulate real-world emotional data, a synthetic dataset with 1,000 entries</a:t>
            </a:r>
            <a:r>
              <a:rPr lang="en-IN" altLang="en-US" sz="2000"/>
              <a:t> was generated</a:t>
            </a:r>
            <a:r>
              <a:rPr lang="en-US" altLang="en-GB" sz="2000"/>
              <a:t> using a combination of domain logic, probability, and behavioral weighting. The dataset includes 10 features — such as sleep hours, arguments, expressions of love, and self-care — that influence a calculated mood score ranging from 1 to 10. We designed the data with realistic distributions, mapped ordinal categories to numeric mood influence, and applied custom weights to simulate human mood variability. A small proportion (&lt;3%) of missing data was injected to reflect imperfect data collection, enhancing realism. This thoughtfully crafted dataset enabled us to build a regression model that feels both playful and insightful — striking a balance between fun and data science integrity.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altLang="en-GB" sz="2000"/>
              <a:t>LOGIC OF MOOD SCORE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1800">
                <a:sym typeface="+mn-ea"/>
              </a:rPr>
              <a:t>A </a:t>
            </a:r>
            <a:r>
              <a:rPr lang="en-US" altLang="en-GB" sz="1800">
                <a:sym typeface="+mn-ea"/>
              </a:rPr>
              <a:t>realistic mood score (from 1 to 10) </a:t>
            </a:r>
            <a:r>
              <a:rPr lang="en-GB" altLang="en-US" sz="1800">
                <a:sym typeface="+mn-ea"/>
              </a:rPr>
              <a:t>was simulated </a:t>
            </a:r>
            <a:r>
              <a:rPr lang="en-US" altLang="en-GB" sz="1800">
                <a:sym typeface="+mn-ea"/>
              </a:rPr>
              <a:t>based on lifestyle, emotional, and environmental factors. Since mood is complex and subjective, a weighted sum of influential features, with some randomness added</a:t>
            </a:r>
            <a:r>
              <a:rPr lang="en-IN" altLang="en-US" sz="1800">
                <a:sym typeface="+mn-ea"/>
              </a:rPr>
              <a:t> was used</a:t>
            </a:r>
            <a:r>
              <a:rPr lang="en-US" altLang="en-GB" sz="1800">
                <a:sym typeface="+mn-ea"/>
              </a:rPr>
              <a:t>.</a:t>
            </a:r>
          </a:p>
          <a:p>
            <a:r>
              <a:rPr lang="en-US" altLang="en-GB" sz="1800">
                <a:sym typeface="+mn-ea"/>
              </a:rPr>
              <a:t>The weights are manually assigned based on common-sense  — not based on real data, but crafted to make the synthetic data feel realistic and logically consistent.</a:t>
            </a:r>
          </a:p>
          <a:p>
            <a:r>
              <a:rPr lang="en-US" altLang="en-GB" sz="1800">
                <a:sym typeface="+mn-ea"/>
              </a:rPr>
              <a:t>Weights reflect how strongly we assume each factor affects mood. For example, love expression (1.2) is assumed to have a stronger emotional impact than eating favorite food (0.5).</a:t>
            </a:r>
          </a:p>
          <a:p>
            <a:r>
              <a:rPr lang="en-GB" altLang="en-US" sz="1800"/>
              <a:t>A</a:t>
            </a:r>
            <a:r>
              <a:rPr lang="en-US" altLang="en-GB" sz="1800"/>
              <a:t>dd</a:t>
            </a:r>
            <a:r>
              <a:rPr lang="en-GB" altLang="en-US" sz="1800"/>
              <a:t>ed</a:t>
            </a:r>
            <a:r>
              <a:rPr lang="en-US" altLang="en-GB" sz="1800"/>
              <a:t> random noise to simulate unpredictable emotional shifts — e.g., even if everything goes right, one might still feel down, and vice versa.</a:t>
            </a:r>
            <a:r>
              <a:rPr lang="en-IN" altLang="en-US" sz="1800"/>
              <a:t> </a:t>
            </a:r>
            <a:r>
              <a:rPr lang="en-US" altLang="en-GB" sz="1800"/>
              <a:t>This mimics real-world emotional complexity.</a:t>
            </a:r>
          </a:p>
          <a:p>
            <a:endParaRPr lang="en-US" altLang="en-GB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/>
              <a:t>MODELLING AND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GB" sz="1600"/>
          </a:p>
          <a:p>
            <a:r>
              <a:rPr lang="en-US" altLang="en-GB" sz="1600"/>
              <a:t>Preprocessing Steps:</a:t>
            </a:r>
          </a:p>
          <a:p>
            <a:r>
              <a:rPr lang="en-US" altLang="en-GB" sz="1600"/>
              <a:t>Missing Value Handling: Randomly introduced &lt;</a:t>
            </a:r>
            <a:r>
              <a:rPr lang="en-GB" altLang="en-US" sz="1600"/>
              <a:t>1</a:t>
            </a:r>
            <a:r>
              <a:rPr lang="en-US" altLang="en-GB" sz="1600"/>
              <a:t>% missing data to simulate real-world conditions and tested with imputation strategies.</a:t>
            </a:r>
            <a:r>
              <a:rPr lang="en-GB" altLang="en-US" sz="1600"/>
              <a:t> Numerical features were imp</a:t>
            </a:r>
            <a:r>
              <a:rPr lang="en-IN" altLang="en-GB" sz="1600"/>
              <a:t>u</a:t>
            </a:r>
            <a:r>
              <a:rPr lang="en-GB" altLang="en-US" sz="1600"/>
              <a:t>ted with the mean and Categorical features were filled using mode.</a:t>
            </a:r>
            <a:endParaRPr lang="en-US" altLang="en-GB" sz="1600"/>
          </a:p>
          <a:p>
            <a:endParaRPr lang="en-US" altLang="en-GB" sz="1600"/>
          </a:p>
          <a:p>
            <a:endParaRPr lang="en-US" altLang="en-GB" sz="1600"/>
          </a:p>
          <a:p>
            <a:endParaRPr lang="en-US" altLang="en-GB" sz="1600"/>
          </a:p>
        </p:txBody>
      </p:sp>
      <p:pic>
        <p:nvPicPr>
          <p:cNvPr id="5" name="Picture 4" descr="Screenshot 2025-06-03 2038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" y="3644900"/>
            <a:ext cx="4231005" cy="1840230"/>
          </a:xfrm>
          <a:prstGeom prst="rect">
            <a:avLst/>
          </a:prstGeom>
        </p:spPr>
      </p:pic>
      <p:pic>
        <p:nvPicPr>
          <p:cNvPr id="6" name="Picture 5" descr="Screenshot 2025-06-03 2145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80" y="3646170"/>
            <a:ext cx="1998345" cy="183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-5882"/>
            <a:ext cx="8696960" cy="1584350"/>
          </a:xfrm>
        </p:spPr>
        <p:txBody>
          <a:bodyPr/>
          <a:lstStyle/>
          <a:p>
            <a:endParaRPr lang="en-US" altLang="en-GB" sz="1600" dirty="0">
              <a:sym typeface="+mn-ea"/>
            </a:endParaRPr>
          </a:p>
          <a:p>
            <a:endParaRPr lang="en-US" altLang="en-GB" sz="1600" dirty="0">
              <a:sym typeface="+mn-ea"/>
            </a:endParaRPr>
          </a:p>
          <a:p>
            <a:r>
              <a:rPr lang="en-IN" altLang="en-US" sz="1600" dirty="0">
                <a:sym typeface="+mn-ea"/>
              </a:rPr>
              <a:t>Distribution of target feature - </a:t>
            </a:r>
            <a:r>
              <a:rPr lang="en-US" altLang="en-GB" sz="1600" dirty="0">
                <a:sym typeface="+mn-ea"/>
              </a:rPr>
              <a:t>The distribution was visualized using Seaborn</a:t>
            </a:r>
            <a:r>
              <a:rPr lang="en-IN" altLang="en-US" sz="1600" dirty="0">
                <a:sym typeface="+mn-ea"/>
              </a:rPr>
              <a:t>.</a:t>
            </a:r>
            <a:endParaRPr lang="en-US" altLang="en-GB" sz="1600" dirty="0">
              <a:sym typeface="+mn-ea"/>
            </a:endParaRPr>
          </a:p>
          <a:p>
            <a:pPr marL="0" indent="0">
              <a:buNone/>
            </a:pPr>
            <a:endParaRPr lang="en-IN" altLang="en-US" sz="1600" dirty="0">
              <a:sym typeface="+mn-ea"/>
            </a:endParaRPr>
          </a:p>
          <a:p>
            <a:endParaRPr lang="en-IN" altLang="en-US" sz="1600" dirty="0">
              <a:sym typeface="+mn-ea"/>
            </a:endParaRPr>
          </a:p>
          <a:p>
            <a:endParaRPr lang="en-IN" altLang="en-US" sz="1600" dirty="0">
              <a:sym typeface="+mn-ea"/>
            </a:endParaRPr>
          </a:p>
          <a:p>
            <a:endParaRPr lang="en-US" altLang="en-GB" sz="1600" dirty="0">
              <a:sym typeface="+mn-ea"/>
            </a:endParaRPr>
          </a:p>
          <a:p>
            <a:endParaRPr lang="en-US" altLang="en-GB" sz="1600" dirty="0">
              <a:sym typeface="+mn-ea"/>
            </a:endParaRPr>
          </a:p>
          <a:p>
            <a:endParaRPr lang="en-IN" altLang="en-US" sz="1600" dirty="0">
              <a:sym typeface="+mn-ea"/>
            </a:endParaRPr>
          </a:p>
          <a:p>
            <a:endParaRPr lang="en-US" altLang="en-GB" sz="1600" dirty="0">
              <a:sym typeface="+mn-ea"/>
            </a:endParaRPr>
          </a:p>
          <a:p>
            <a:endParaRPr lang="en-US" altLang="en-GB" sz="1600" dirty="0">
              <a:sym typeface="+mn-ea"/>
            </a:endParaRPr>
          </a:p>
          <a:p>
            <a:endParaRPr lang="en-US" altLang="en-GB" sz="1600" dirty="0">
              <a:sym typeface="+mn-ea"/>
            </a:endParaRPr>
          </a:p>
          <a:p>
            <a:endParaRPr lang="en-US" altLang="en-GB" sz="1600" dirty="0">
              <a:sym typeface="+mn-ea"/>
            </a:endParaRPr>
          </a:p>
          <a:p>
            <a:endParaRPr lang="en-US" altLang="en-GB" sz="1600" dirty="0">
              <a:sym typeface="+mn-ea"/>
            </a:endParaRPr>
          </a:p>
          <a:p>
            <a:endParaRPr lang="en-US" altLang="en-GB" sz="1600" dirty="0">
              <a:sym typeface="+mn-ea"/>
            </a:endParaRPr>
          </a:p>
          <a:p>
            <a:r>
              <a:rPr lang="en-US" altLang="en-GB" sz="1600" dirty="0">
                <a:sym typeface="+mn-ea"/>
              </a:rPr>
              <a:t>The distribution is approximately normal (bell-shaped), which indicates that most of the mood scores are centered around the mean (around 6 to 7).</a:t>
            </a:r>
            <a:r>
              <a:rPr lang="en-IN" altLang="en-US" sz="1600" dirty="0">
                <a:sym typeface="+mn-ea"/>
              </a:rPr>
              <a:t> </a:t>
            </a:r>
            <a:r>
              <a:rPr lang="en-US" altLang="en-GB" sz="1600" dirty="0">
                <a:sym typeface="+mn-ea"/>
              </a:rPr>
              <a:t>This suggests that the dataset is well-balanced and the mood scoring logic is not biased.</a:t>
            </a:r>
          </a:p>
          <a:p>
            <a:endParaRPr lang="en-US" altLang="en-GB" sz="1600" dirty="0"/>
          </a:p>
          <a:p>
            <a:endParaRPr lang="en-US" altLang="en-GB" sz="1600" dirty="0"/>
          </a:p>
          <a:p>
            <a:endParaRPr lang="en-US" altLang="en-GB" sz="1600" dirty="0"/>
          </a:p>
        </p:txBody>
      </p:sp>
      <p:pic>
        <p:nvPicPr>
          <p:cNvPr id="6" name="Picture 5" descr="outpu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980728"/>
            <a:ext cx="5220970" cy="33362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GB" sz="1600"/>
              <a:t>Correlation analysis</a:t>
            </a:r>
          </a:p>
          <a:p>
            <a:pPr marL="0" indent="0" algn="just">
              <a:buNone/>
            </a:pPr>
            <a:r>
              <a:rPr lang="en-US" altLang="en-GB" sz="1600"/>
              <a:t>The correlation analysis revealed that adequate sleep improves mood, while increased time spent away from the partner tends to lower it — highlighting the emotional and physical well-being influences on mood.</a:t>
            </a:r>
          </a:p>
          <a:p>
            <a:pPr algn="just"/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endParaRPr lang="en-US" altLang="en-GB" sz="1600"/>
          </a:p>
          <a:p>
            <a:pPr algn="just"/>
            <a:endParaRPr lang="en-US" altLang="en-GB" sz="1600"/>
          </a:p>
          <a:p>
            <a:pPr marL="0" indent="0" algn="just">
              <a:buNone/>
            </a:pPr>
            <a:endParaRPr lang="en-IN" altLang="en-GB" sz="1600"/>
          </a:p>
        </p:txBody>
      </p:sp>
      <p:pic>
        <p:nvPicPr>
          <p:cNvPr id="4" name="Picture 3" descr="cor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585" y="3068955"/>
            <a:ext cx="3475990" cy="2511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GB" sz="1800"/>
              <a:t>Ordinal Encoding (for categories with order):</a:t>
            </a:r>
          </a:p>
          <a:p>
            <a:pPr marL="0" indent="0" algn="just">
              <a:buNone/>
            </a:pPr>
            <a:r>
              <a:rPr lang="en-US" altLang="en-GB" sz="1800"/>
              <a:t>Features like:</a:t>
            </a:r>
            <a:r>
              <a:rPr lang="en-IN" altLang="en-US" sz="1800"/>
              <a:t> </a:t>
            </a:r>
            <a:r>
              <a:rPr lang="en-US" altLang="en-GB" sz="1800"/>
              <a:t>unresolved_argument </a:t>
            </a:r>
            <a:r>
              <a:rPr lang="en-US" altLang="en-US" sz="1800"/>
              <a:t>→</a:t>
            </a:r>
            <a:r>
              <a:rPr lang="en-US" altLang="en-GB" sz="1800"/>
              <a:t> ‘none’ &lt; ‘mild’ &lt; ‘serious’</a:t>
            </a:r>
            <a:r>
              <a:rPr lang="en-IN" altLang="en-US" sz="1800"/>
              <a:t> ,</a:t>
            </a:r>
            <a:r>
              <a:rPr lang="en-US" altLang="en-GB" sz="1800"/>
              <a:t>work_pressure </a:t>
            </a:r>
            <a:r>
              <a:rPr lang="en-US" altLang="en-US" sz="1800"/>
              <a:t>→</a:t>
            </a:r>
            <a:r>
              <a:rPr lang="en-US" altLang="en-GB" sz="1800"/>
              <a:t> ‘no’ &lt; ‘minor’ &lt; ‘major’</a:t>
            </a:r>
            <a:r>
              <a:rPr lang="en-IN" altLang="en-US" sz="1800"/>
              <a:t>, </a:t>
            </a:r>
            <a:r>
              <a:rPr lang="en-US" altLang="en-GB" sz="1800"/>
              <a:t>menstrual_phase </a:t>
            </a:r>
            <a:r>
              <a:rPr lang="en-US" altLang="en-US" sz="1800"/>
              <a:t>→</a:t>
            </a:r>
            <a:r>
              <a:rPr lang="en-US" altLang="en-GB" sz="1800"/>
              <a:t> ordered from ‘unknown’ to ‘PMS phase’</a:t>
            </a:r>
            <a:r>
              <a:rPr lang="en-IN" altLang="en-US" sz="1800"/>
              <a:t>. </a:t>
            </a:r>
            <a:r>
              <a:rPr lang="en-US" altLang="en-GB" sz="1800"/>
              <a:t>These were mapped to increasing integers (0, 1, 2...) to preserve their logical ranking.</a:t>
            </a:r>
          </a:p>
          <a:p>
            <a:pPr algn="just"/>
            <a:r>
              <a:rPr lang="en-US" altLang="en-GB" sz="1800"/>
              <a:t>Binary Encoding (for yes/no type):</a:t>
            </a:r>
          </a:p>
          <a:p>
            <a:pPr marL="0" indent="0" algn="just">
              <a:buNone/>
            </a:pPr>
            <a:r>
              <a:rPr lang="en-US" altLang="en-GB" sz="1800"/>
              <a:t>Features like:</a:t>
            </a:r>
            <a:r>
              <a:rPr lang="en-IN" altLang="en-US" sz="1800"/>
              <a:t> </a:t>
            </a:r>
            <a:r>
              <a:rPr lang="en-US" altLang="en-GB" sz="1800"/>
              <a:t>gave_compliments, expressed_love, etc.</a:t>
            </a:r>
            <a:r>
              <a:rPr lang="en-IN" altLang="en-US" sz="1800"/>
              <a:t> w</a:t>
            </a:r>
            <a:r>
              <a:rPr lang="en-US" altLang="en-GB" sz="1800"/>
              <a:t>ere mapped as:</a:t>
            </a:r>
            <a:r>
              <a:rPr lang="en-IN" altLang="en-US" sz="1800"/>
              <a:t> </a:t>
            </a:r>
            <a:r>
              <a:rPr lang="en-US" altLang="en-GB" sz="1800"/>
              <a:t>yes’ </a:t>
            </a:r>
            <a:r>
              <a:rPr lang="en-US" altLang="en-US" sz="1800"/>
              <a:t>→</a:t>
            </a:r>
            <a:r>
              <a:rPr lang="en-US" altLang="en-GB" sz="1800"/>
              <a:t> 1,</a:t>
            </a:r>
            <a:r>
              <a:rPr lang="en-IN" altLang="en-US" sz="1800"/>
              <a:t> </a:t>
            </a:r>
            <a:r>
              <a:rPr lang="en-US" altLang="en-GB" sz="1800"/>
              <a:t>‘no’ </a:t>
            </a:r>
            <a:r>
              <a:rPr lang="en-US" altLang="en-US" sz="1800"/>
              <a:t>→</a:t>
            </a:r>
            <a:r>
              <a:rPr lang="en-US" altLang="en-GB" sz="1800"/>
              <a:t> 0</a:t>
            </a:r>
            <a:r>
              <a:rPr lang="en-IN" altLang="en-US" sz="1800"/>
              <a:t>.</a:t>
            </a:r>
          </a:p>
          <a:p>
            <a:pPr algn="just"/>
            <a:r>
              <a:rPr lang="en-US" altLang="en-GB" sz="1800">
                <a:sym typeface="+mn-ea"/>
              </a:rPr>
              <a:t>Used StandardScaler to normalize</a:t>
            </a:r>
            <a:r>
              <a:rPr lang="en-IN" altLang="en-US" sz="1800">
                <a:sym typeface="+mn-ea"/>
              </a:rPr>
              <a:t>.</a:t>
            </a:r>
          </a:p>
          <a:p>
            <a:pPr algn="just"/>
            <a:r>
              <a:rPr lang="en-US" altLang="en-GB" sz="1800">
                <a:sym typeface="+mn-ea"/>
              </a:rPr>
              <a:t>Model Chosen: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Linear Regression – selected for interpretability, and effectiveness in continuous score prediction (Mood Score from 1 to 10).</a:t>
            </a:r>
            <a:endParaRPr lang="en-IN" altLang="en-US" sz="1800">
              <a:sym typeface="+mn-ea"/>
            </a:endParaRPr>
          </a:p>
          <a:p>
            <a:pPr algn="just"/>
            <a:r>
              <a:rPr lang="en-US" altLang="en-GB" sz="1800">
                <a:sym typeface="+mn-ea"/>
              </a:rPr>
              <a:t>Evaluation Metric: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Used Mean Absolute Error (MAE) and R</a:t>
            </a:r>
            <a:r>
              <a:rPr lang="en-US" altLang="en-US" sz="1800">
                <a:sym typeface="+mn-ea"/>
              </a:rPr>
              <a:t>²</a:t>
            </a:r>
            <a:r>
              <a:rPr lang="en-US" altLang="en-GB" sz="1800">
                <a:sym typeface="+mn-ea"/>
              </a:rPr>
              <a:t> Score to validate accuracy and reliability.</a:t>
            </a:r>
            <a:endParaRPr lang="en-US" altLang="en-GB" sz="1800"/>
          </a:p>
          <a:p>
            <a:pPr marL="0" indent="0" algn="just">
              <a:buNone/>
            </a:pPr>
            <a:endParaRPr lang="en-US" altLang="en-GB" sz="1800"/>
          </a:p>
          <a:p>
            <a:pPr algn="just"/>
            <a:endParaRPr lang="en-US" altLang="en-GB" sz="1800"/>
          </a:p>
          <a:p>
            <a:pPr algn="just"/>
            <a:endParaRPr lang="en-US" altLang="en-GB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/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 sz="1600"/>
              <a:t>MAE of 0.</a:t>
            </a:r>
            <a:r>
              <a:rPr lang="en-IN" altLang="en-US" sz="1600"/>
              <a:t>36</a:t>
            </a:r>
            <a:r>
              <a:rPr lang="en-US" altLang="en-GB" sz="1600"/>
              <a:t> </a:t>
            </a:r>
            <a:r>
              <a:rPr lang="en-IN" altLang="en-US" sz="1600"/>
              <a:t>indicates that, on average, the model’s predicted mood score deviates by only +/-0.36 points fom the actual mood score. This small error shows that the model is highly accurate and consistent in capturing mood patterns based on the input features.</a:t>
            </a:r>
          </a:p>
          <a:p>
            <a:endParaRPr lang="en-US" altLang="en-GB" sz="1600"/>
          </a:p>
          <a:p>
            <a:r>
              <a:rPr lang="en-US" altLang="en-GB" sz="1600"/>
              <a:t>R</a:t>
            </a:r>
            <a:r>
              <a:rPr lang="en-US" altLang="en-US" sz="1600"/>
              <a:t>²</a:t>
            </a:r>
            <a:r>
              <a:rPr lang="en-US" altLang="en-GB" sz="1600"/>
              <a:t> score of 0.</a:t>
            </a:r>
            <a:r>
              <a:rPr lang="en-IN" altLang="en-US" sz="1600"/>
              <a:t>87</a:t>
            </a:r>
            <a:r>
              <a:rPr lang="en-US" altLang="en-GB" sz="1600"/>
              <a:t> indicates the model explains </a:t>
            </a:r>
            <a:r>
              <a:rPr lang="en-IN" altLang="en-US" sz="1600"/>
              <a:t>87</a:t>
            </a:r>
            <a:r>
              <a:rPr lang="en-US" altLang="en-GB" sz="1600"/>
              <a:t>% of the variability in mood score — a strong fit for a linear regression.</a:t>
            </a:r>
            <a:r>
              <a:rPr lang="en-IN" altLang="en-US" sz="1600"/>
              <a:t> The model understands the mood dynamics with high reliability and leaves only 13% to randomness or unexplained.</a:t>
            </a:r>
            <a:endParaRPr lang="en-US" altLang="en-GB" sz="1600"/>
          </a:p>
          <a:p>
            <a:endParaRPr lang="en-US" altLang="en-GB" sz="1600"/>
          </a:p>
          <a:p>
            <a:pPr marL="0" indent="0">
              <a:buNone/>
            </a:pPr>
            <a:r>
              <a:rPr lang="en-US" altLang="en-GB" sz="1600"/>
              <a:t>Note: These values are based on a synthetic dataset, which was well-designed to reflect mood behavior. Real-world data may have more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GB"/>
              <a:t>Model deployment with Streamlit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altLang="en-US" sz="2000">
                <a:sym typeface="+mn-ea"/>
              </a:rPr>
              <a:t> After training the model, w</a:t>
            </a:r>
            <a:r>
              <a:rPr lang="en-IN" altLang="en-US" sz="2000"/>
              <a:t>ith the help of Streamlit, an interactive web app was developed which made it easy and fun for anyone to use.</a:t>
            </a:r>
          </a:p>
          <a:p>
            <a:r>
              <a:rPr lang="en-IN" altLang="en-US" sz="2000"/>
              <a:t>It l</a:t>
            </a:r>
            <a:r>
              <a:rPr lang="en-US" altLang="en-GB" sz="2000"/>
              <a:t>ets users answer relationship-inspired questions</a:t>
            </a:r>
            <a:r>
              <a:rPr lang="en-IN" altLang="en-US" sz="2000"/>
              <a:t>.</a:t>
            </a:r>
            <a:endParaRPr lang="en-US" altLang="en-GB" sz="2000"/>
          </a:p>
          <a:p>
            <a:r>
              <a:rPr lang="en-US" altLang="en-GB" sz="2000"/>
              <a:t>Predicts the girlfriend’s mood instantly</a:t>
            </a:r>
            <a:r>
              <a:rPr lang="en-IN" altLang="en-US" sz="2000"/>
              <a:t>.</a:t>
            </a:r>
            <a:endParaRPr lang="en-US" altLang="en-GB" sz="2000"/>
          </a:p>
          <a:p>
            <a:r>
              <a:rPr lang="en-US" altLang="en-GB" sz="2000"/>
              <a:t>Shares a </a:t>
            </a:r>
            <a:r>
              <a:rPr lang="en-IN" altLang="en-US" sz="2000"/>
              <a:t>fun</a:t>
            </a:r>
            <a:r>
              <a:rPr lang="en-US" altLang="en-GB" sz="2000"/>
              <a:t> message tailored to the mood</a:t>
            </a:r>
            <a:r>
              <a:rPr lang="en-IN" altLang="en-US" sz="200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Screenshot 2025-06-03 22483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1916832"/>
            <a:ext cx="81661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 2025-06-03 22492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550" y="1281430"/>
            <a:ext cx="8229600" cy="44716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832</Words>
  <Application>Microsoft Office PowerPoint</Application>
  <PresentationFormat>On-screen Show (4:3)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Default Design</vt:lpstr>
      <vt:lpstr> Mood Prediction </vt:lpstr>
      <vt:lpstr>OBJECTIVE</vt:lpstr>
      <vt:lpstr>OVERVIEW</vt:lpstr>
      <vt:lpstr>DATA</vt:lpstr>
      <vt:lpstr>LOGIC OF MOOD SCORE FORMULA</vt:lpstr>
      <vt:lpstr>MODELLING AND TRAINING</vt:lpstr>
      <vt:lpstr>PowerPoint Presentation</vt:lpstr>
      <vt:lpstr>PowerPoint Presentation</vt:lpstr>
      <vt:lpstr>PowerPoint Presentation</vt:lpstr>
      <vt:lpstr>INTERPRETATION</vt:lpstr>
      <vt:lpstr>Model deployment with Streamlit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 Prediction</dc:title>
  <dc:creator>Lenovo</dc:creator>
  <cp:lastModifiedBy>Sulagna Dutta</cp:lastModifiedBy>
  <cp:revision>2</cp:revision>
  <dcterms:created xsi:type="dcterms:W3CDTF">2025-06-03T17:25:03Z</dcterms:created>
  <dcterms:modified xsi:type="dcterms:W3CDTF">2026-01-17T13:12:39Z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2057-12.2.0.21179</vt:lpwstr>
  </property>
  <property fmtid="{D5CDD505-2E9C-101B-9397-08002B2CF9AE}" pid="3" name="ICV">
    <vt:lpwstr>FB25919F9A4A4111B9C0CCC60747AF29_12</vt:lpwstr>
  </property>
</Properties>
</file>